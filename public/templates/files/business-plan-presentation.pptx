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>
              <a:gd name="adj" fmla="val 37500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0"/>
            <a:ext cx="3824935" cy="6858000"/>
          </a:xfrm>
          <a:prstGeom prst="rect">
            <a:avLst>
              <a:gd name="adj" fmla="val 1434"/>
            </a:avLst>
          </a:prstGeom>
          <a:solidFill>
            <a:srgbClr val="1721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02920"/>
            <a:ext cx="0" cy="5669280"/>
          </a:xfrm>
          <a:prstGeom prst="line">
            <a:avLst/>
          </a:prstGeom>
          <a:noFill/>
          <a:ln w="6985">
            <a:solidFill>
              <a:srgbClr val="D9DD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76272" y="502920"/>
            <a:ext cx="0" cy="5669280"/>
          </a:xfrm>
          <a:prstGeom prst="line">
            <a:avLst/>
          </a:prstGeom>
          <a:noFill/>
          <a:ln w="6985">
            <a:solidFill>
              <a:srgbClr val="D9D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94176" y="502920"/>
            <a:ext cx="0" cy="5669280"/>
          </a:xfrm>
          <a:prstGeom prst="line">
            <a:avLst/>
          </a:prstGeom>
          <a:noFill/>
          <a:ln w="6985">
            <a:solidFill>
              <a:srgbClr val="D9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0" y="502920"/>
            <a:ext cx="0" cy="5669280"/>
          </a:xfrm>
          <a:prstGeom prst="line">
            <a:avLst/>
          </a:prstGeom>
          <a:noFill/>
          <a:ln w="6985">
            <a:solidFill>
              <a:srgbClr val="D9D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9984" y="502920"/>
            <a:ext cx="0" cy="5669280"/>
          </a:xfrm>
          <a:prstGeom prst="line">
            <a:avLst/>
          </a:prstGeom>
          <a:noFill/>
          <a:ln w="6985">
            <a:solidFill>
              <a:srgbClr val="D9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669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STRATEGY SERIES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7040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1721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Plan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685800" y="3182112"/>
            <a:ext cx="1371600" cy="91440"/>
          </a:xfrm>
          <a:prstGeom prst="rect">
            <a:avLst>
              <a:gd name="adj" fmla="val 60000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9300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260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path from opportunity to sustainable growth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5806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eight-slide 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87968" y="1133856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87968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8F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37500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OPPORTUNITY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8890">
            <a:solidFill>
              <a:srgbClr val="C9C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6629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1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market is ready for a simpler choice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561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lose time and money navigating fragmented, complicated alternatives.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18120" y="1234440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1721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190195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F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339328" y="2944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target buyers actively seek a simpler workflow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57032" y="4232758"/>
            <a:ext cx="329184" cy="595274"/>
          </a:xfrm>
          <a:prstGeom prst="rect">
            <a:avLst>
              <a:gd name="adj" fmla="val 16667"/>
            </a:avLst>
          </a:prstGeom>
          <a:solidFill>
            <a:srgbClr val="6170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0536" y="3835908"/>
            <a:ext cx="329184" cy="992124"/>
          </a:xfrm>
          <a:prstGeom prst="rect">
            <a:avLst>
              <a:gd name="adj" fmla="val 16667"/>
            </a:avLst>
          </a:prstGeom>
          <a:solidFill>
            <a:srgbClr val="6170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64040" y="4048506"/>
            <a:ext cx="329184" cy="779526"/>
          </a:xfrm>
          <a:prstGeom prst="rect">
            <a:avLst>
              <a:gd name="adj" fmla="val 16667"/>
            </a:avLst>
          </a:prstGeom>
          <a:solidFill>
            <a:srgbClr val="6170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67544" y="3665830"/>
            <a:ext cx="329184" cy="1162202"/>
          </a:xfrm>
          <a:prstGeom prst="rect">
            <a:avLst>
              <a:gd name="adj" fmla="val 16667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37500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CUSTOMER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8890">
            <a:solidFill>
              <a:srgbClr val="C9C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one high-value audience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359152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61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buyer, moment of need, and outcome they are willing to pay for.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730752"/>
            <a:ext cx="1920240" cy="384048"/>
          </a:xfrm>
          <a:prstGeom prst="rect">
            <a:avLst>
              <a:gd name="adj" fmla="val 14286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8313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85800" y="4297680"/>
            <a:ext cx="2834640" cy="384048"/>
          </a:xfrm>
          <a:prstGeom prst="rect">
            <a:avLst>
              <a:gd name="adj" fmla="val 14286"/>
            </a:avLst>
          </a:prstGeom>
          <a:solidFill>
            <a:srgbClr val="DDE3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3982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85800" y="4864608"/>
            <a:ext cx="3794760" cy="384048"/>
          </a:xfrm>
          <a:prstGeom prst="rect">
            <a:avLst>
              <a:gd name="adj" fmla="val 14286"/>
            </a:avLst>
          </a:prstGeom>
          <a:solidFill>
            <a:srgbClr val="DDE3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9651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253728" y="1828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641080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beachhead segment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37500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8890">
            <a:solidFill>
              <a:srgbClr val="C9C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clear promise, delivered consistently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61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the product removes friction and creates a measurable improvement.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43159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51023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path to customer value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29400" y="5166360"/>
            <a:ext cx="0" cy="-1234440"/>
          </a:xfrm>
          <a:prstGeom prst="line">
            <a:avLst/>
          </a:prstGeom>
          <a:noFill/>
          <a:ln w="63500">
            <a:solidFill>
              <a:srgbClr val="AEB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53583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138160" y="5166360"/>
            <a:ext cx="0" cy="-1645920"/>
          </a:xfrm>
          <a:prstGeom prst="line">
            <a:avLst/>
          </a:prstGeom>
          <a:noFill/>
          <a:ln w="63500">
            <a:solidFill>
              <a:srgbClr val="AEB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0416" y="53583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9646920" y="5166360"/>
            <a:ext cx="0" cy="-2057400"/>
          </a:xfrm>
          <a:prstGeom prst="line">
            <a:avLst/>
          </a:prstGeom>
          <a:noFill/>
          <a:ln w="63500">
            <a:solidFill>
              <a:srgbClr val="B8F2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9176" y="53583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UPSIDE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37500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MARKET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8890">
            <a:solidFill>
              <a:srgbClr val="C9C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6629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1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 through a reachable segment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561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the total market from customers the current team can realistically win.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18120" y="1234440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1721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190195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F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$2.4B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339328" y="2944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serviceable market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57032" y="4232758"/>
            <a:ext cx="329184" cy="595274"/>
          </a:xfrm>
          <a:prstGeom prst="rect">
            <a:avLst>
              <a:gd name="adj" fmla="val 16667"/>
            </a:avLst>
          </a:prstGeom>
          <a:solidFill>
            <a:srgbClr val="6170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0536" y="3835908"/>
            <a:ext cx="329184" cy="992124"/>
          </a:xfrm>
          <a:prstGeom prst="rect">
            <a:avLst>
              <a:gd name="adj" fmla="val 16667"/>
            </a:avLst>
          </a:prstGeom>
          <a:solidFill>
            <a:srgbClr val="6170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64040" y="4048506"/>
            <a:ext cx="329184" cy="779526"/>
          </a:xfrm>
          <a:prstGeom prst="rect">
            <a:avLst>
              <a:gd name="adj" fmla="val 16667"/>
            </a:avLst>
          </a:prstGeom>
          <a:solidFill>
            <a:srgbClr val="6170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67544" y="3665830"/>
            <a:ext cx="329184" cy="1162202"/>
          </a:xfrm>
          <a:prstGeom prst="rect">
            <a:avLst>
              <a:gd name="adj" fmla="val 16667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37500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BUSINESS MODEL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8890">
            <a:solidFill>
              <a:srgbClr val="C9C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grows with customer value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359152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61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pricing, unit economics, retention, and the assumptions behind the model.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730752"/>
            <a:ext cx="1920240" cy="384048"/>
          </a:xfrm>
          <a:prstGeom prst="rect">
            <a:avLst>
              <a:gd name="adj" fmla="val 14286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8313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85800" y="4297680"/>
            <a:ext cx="2834640" cy="384048"/>
          </a:xfrm>
          <a:prstGeom prst="rect">
            <a:avLst>
              <a:gd name="adj" fmla="val 14286"/>
            </a:avLst>
          </a:prstGeom>
          <a:solidFill>
            <a:srgbClr val="DDE3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3982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85800" y="4864608"/>
            <a:ext cx="3794760" cy="384048"/>
          </a:xfrm>
          <a:prstGeom prst="rect">
            <a:avLst>
              <a:gd name="adj" fmla="val 14286"/>
            </a:avLst>
          </a:prstGeom>
          <a:solidFill>
            <a:srgbClr val="DDE3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9651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253728" y="1828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641080" y="2651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gross margin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37500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GO-TO-MARKET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8890">
            <a:solidFill>
              <a:srgbClr val="C9C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Earn trust in one channel, then expand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61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founder-led sales, document repeatability, and add channels deliberately.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43159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51023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phases to repeatable growth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29400" y="5166360"/>
            <a:ext cx="0" cy="-1234440"/>
          </a:xfrm>
          <a:prstGeom prst="line">
            <a:avLst/>
          </a:prstGeom>
          <a:noFill/>
          <a:ln w="63500">
            <a:solidFill>
              <a:srgbClr val="AEB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53583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138160" y="5166360"/>
            <a:ext cx="0" cy="-1645920"/>
          </a:xfrm>
          <a:prstGeom prst="line">
            <a:avLst/>
          </a:prstGeom>
          <a:noFill/>
          <a:ln w="63500">
            <a:solidFill>
              <a:srgbClr val="AEB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0416" y="53583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9646920" y="5166360"/>
            <a:ext cx="0" cy="-2057400"/>
          </a:xfrm>
          <a:prstGeom prst="line">
            <a:avLst/>
          </a:prstGeom>
          <a:noFill/>
          <a:ln w="63500">
            <a:solidFill>
              <a:srgbClr val="B8F2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9176" y="53583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UPSIDE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37500"/>
            </a:avLst>
          </a:prstGeom>
          <a:solidFill>
            <a:srgbClr val="B8F23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FINANCIAL OUTLOOK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10881360" cy="0"/>
          </a:xfrm>
          <a:prstGeom prst="line">
            <a:avLst/>
          </a:prstGeom>
          <a:noFill/>
          <a:ln w="8890">
            <a:solidFill>
              <a:srgbClr val="C9C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disciplined path to sustainable growth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61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a base case, key sensitivities, capital needs, and the next decision point.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43159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51023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three-year revenue growth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29400" y="5166360"/>
            <a:ext cx="0" cy="-1234440"/>
          </a:xfrm>
          <a:prstGeom prst="line">
            <a:avLst/>
          </a:prstGeom>
          <a:noFill/>
          <a:ln w="63500">
            <a:solidFill>
              <a:srgbClr val="AEB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53583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138160" y="5166360"/>
            <a:ext cx="0" cy="-1645920"/>
          </a:xfrm>
          <a:prstGeom prst="line">
            <a:avLst/>
          </a:prstGeom>
          <a:noFill/>
          <a:ln w="63500">
            <a:solidFill>
              <a:srgbClr val="AEB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0416" y="53583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9646920" y="5166360"/>
            <a:ext cx="0" cy="-2057400"/>
          </a:xfrm>
          <a:prstGeom prst="line">
            <a:avLst/>
          </a:prstGeom>
          <a:noFill/>
          <a:ln w="63500">
            <a:solidFill>
              <a:srgbClr val="B8F2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9176" y="53583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UPSIDE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FreeAIPPT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Plan</dc:title>
  <dc:subject>Free editable PowerPoint template</dc:subject>
  <dc:creator>FreeAIPPT</dc:creator>
  <cp:lastModifiedBy>FreeAIPPT</cp:lastModifiedBy>
  <cp:revision>1</cp:revision>
  <dcterms:created xsi:type="dcterms:W3CDTF">2026-09-08T03:51:56Z</dcterms:created>
  <dcterms:modified xsi:type="dcterms:W3CDTF">2026-09-08T03:51:56Z</dcterms:modified>
</cp:coreProperties>
</file>