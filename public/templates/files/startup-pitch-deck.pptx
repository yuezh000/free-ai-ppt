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-1417320"/>
            <a:ext cx="5669280" cy="5669280"/>
          </a:xfrm>
          <a:prstGeom prst="ellipse">
            <a:avLst/>
          </a:prstGeom>
          <a:solidFill>
            <a:srgbClr val="1A204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0" y="-274320"/>
            <a:ext cx="3108960" cy="3108960"/>
          </a:xfrm>
          <a:prstGeom prst="ellipse">
            <a:avLst/>
          </a:prstGeom>
          <a:solidFill>
            <a:srgbClr val="FF4D8D">
              <a:alpha val="9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566928"/>
            <a:ext cx="1645920" cy="91440"/>
          </a:xfrm>
          <a:prstGeom prst="rect">
            <a:avLst>
              <a:gd name="adj" fmla="val 60000"/>
            </a:avLst>
          </a:prstGeom>
          <a:solidFill>
            <a:srgbClr val="45E6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804672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b="1" spc="230" kern="0" dirty="0">
                <a:solidFill>
                  <a:srgbClr val="45E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SEED / 2026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658368" y="160020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spc="100" kern="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STARTUP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58368" y="2487168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800" b="1" dirty="0">
                <a:solidFill>
                  <a:srgbClr val="FF4D8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PITCH DECK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704088" y="3913632"/>
            <a:ext cx="5303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B7C1D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Proof, momentum, and a precise funding story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04088" y="5650992"/>
            <a:ext cx="5029200" cy="0"/>
          </a:xfrm>
          <a:prstGeom prst="line">
            <a:avLst/>
          </a:prstGeom>
          <a:noFill/>
          <a:ln w="12700">
            <a:solidFill>
              <a:srgbClr val="3C466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4088" y="5852160"/>
            <a:ext cx="38404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b="1" spc="18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PROBLEM → PROOF → SCALE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469880" y="5650992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45E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9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3038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1755648" y="603504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b="1" spc="240" kern="0" dirty="0">
                <a:solidFill>
                  <a:srgbClr val="45E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PROBLEM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389888"/>
            <a:ext cx="6675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Critical work disappears between disconnected tools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713232" y="2971800"/>
            <a:ext cx="5715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B4BE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Teams spend their best hours coordinating information instead of serving customers.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458200" y="1005840"/>
            <a:ext cx="2880360" cy="2880360"/>
          </a:xfrm>
          <a:prstGeom prst="ellipse">
            <a:avLst/>
          </a:prstGeom>
          <a:solidFill>
            <a:srgbClr val="1A204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7152" y="1764792"/>
            <a:ext cx="1371600" cy="1371600"/>
          </a:xfrm>
          <a:prstGeom prst="ellipse">
            <a:avLst/>
          </a:prstGeom>
          <a:solidFill>
            <a:srgbClr val="FF4D8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19872" y="425196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11h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8366760" y="5102352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45E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lost per person each week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66928" y="6510528"/>
            <a:ext cx="24688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spc="140" kern="0" dirty="0">
                <a:solidFill>
                  <a:srgbClr val="68739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FREEAIPPT / EDITABLE TEMPLATE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11137392" y="6473952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8739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9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3038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1755648" y="603504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b="1" spc="240" kern="0" dirty="0">
                <a:solidFill>
                  <a:srgbClr val="FF4D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SOLUTION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658368" y="1298448"/>
            <a:ext cx="3703320" cy="4480560"/>
          </a:xfrm>
          <a:prstGeom prst="roundRect">
            <a:avLst>
              <a:gd name="adj" fmla="val 1481"/>
            </a:avLst>
          </a:prstGeom>
          <a:solidFill>
            <a:srgbClr val="1A204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7552" y="1847088"/>
            <a:ext cx="29992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45E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005840" y="2926080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BCC5D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shared operating layer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005840" y="4069080"/>
            <a:ext cx="2651760" cy="164592"/>
          </a:xfrm>
          <a:prstGeom prst="rect">
            <a:avLst>
              <a:gd name="adj" fmla="val 33333"/>
            </a:avLst>
          </a:prstGeom>
          <a:solidFill>
            <a:srgbClr val="424D78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4297680"/>
            <a:ext cx="1005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00" b="1" spc="13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</a:t>
            </a:r>
            <a:endParaRPr lang="en-US" sz="600" dirty="0"/>
          </a:p>
        </p:txBody>
      </p:sp>
      <p:sp>
        <p:nvSpPr>
          <p:cNvPr id="9" name="Shape 7"/>
          <p:cNvSpPr/>
          <p:nvPr/>
        </p:nvSpPr>
        <p:spPr>
          <a:xfrm>
            <a:off x="1005840" y="4462272"/>
            <a:ext cx="2331720" cy="164592"/>
          </a:xfrm>
          <a:prstGeom prst="rect">
            <a:avLst>
              <a:gd name="adj" fmla="val 33333"/>
            </a:avLst>
          </a:prstGeom>
          <a:solidFill>
            <a:srgbClr val="424D78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4690872"/>
            <a:ext cx="1005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00" b="1" spc="13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ENGINE</a:t>
            </a:r>
            <a:endParaRPr lang="en-US" sz="600" dirty="0"/>
          </a:p>
        </p:txBody>
      </p:sp>
      <p:sp>
        <p:nvSpPr>
          <p:cNvPr id="11" name="Shape 9"/>
          <p:cNvSpPr/>
          <p:nvPr/>
        </p:nvSpPr>
        <p:spPr>
          <a:xfrm>
            <a:off x="1005840" y="4855464"/>
            <a:ext cx="2011680" cy="164592"/>
          </a:xfrm>
          <a:prstGeom prst="rect">
            <a:avLst>
              <a:gd name="adj" fmla="val 33333"/>
            </a:avLst>
          </a:prstGeom>
          <a:solidFill>
            <a:srgbClr val="FF4D8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5084064"/>
            <a:ext cx="1005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00" b="1" spc="13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OUTCOME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4983480" y="1481328"/>
            <a:ext cx="5989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One workspace that moves work forward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5010912" y="3127248"/>
            <a:ext cx="5394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B4BE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Capture requests, coordinate decisions, and deliver outcomes without manual handoffs.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010912" y="4773168"/>
            <a:ext cx="5166360" cy="0"/>
          </a:xfrm>
          <a:prstGeom prst="line">
            <a:avLst/>
          </a:prstGeom>
          <a:noFill/>
          <a:ln w="25400">
            <a:solidFill>
              <a:srgbClr val="45E6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6510528"/>
            <a:ext cx="24688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spc="140" kern="0" dirty="0">
                <a:solidFill>
                  <a:srgbClr val="68739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FREEAIPPT / EDITABLE TEMPLATE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11137392" y="6473952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8739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9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3038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1755648" y="603504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b="1" spc="240" kern="0" dirty="0">
                <a:solidFill>
                  <a:srgbClr val="45E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234440"/>
            <a:ext cx="10287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large market with a focused entry point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713232" y="2487168"/>
            <a:ext cx="6766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B4BE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Begin with service teams where workflow speed directly affects revenue.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49808" y="4709160"/>
            <a:ext cx="1371600" cy="640080"/>
          </a:xfrm>
          <a:prstGeom prst="roundRect">
            <a:avLst>
              <a:gd name="adj" fmla="val 8571"/>
            </a:avLst>
          </a:prstGeom>
          <a:solidFill>
            <a:srgbClr val="28325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553212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2761488" y="4398264"/>
            <a:ext cx="1371600" cy="950976"/>
          </a:xfrm>
          <a:prstGeom prst="roundRect">
            <a:avLst>
              <a:gd name="adj" fmla="val 5769"/>
            </a:avLst>
          </a:prstGeom>
          <a:solidFill>
            <a:srgbClr val="28325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54680" y="553212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4773168" y="4105656"/>
            <a:ext cx="1371600" cy="1243584"/>
          </a:xfrm>
          <a:prstGeom prst="roundRect">
            <a:avLst>
              <a:gd name="adj" fmla="val 4412"/>
            </a:avLst>
          </a:prstGeom>
          <a:solidFill>
            <a:srgbClr val="28325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66360" y="553212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6784848" y="3703320"/>
            <a:ext cx="1371600" cy="1645920"/>
          </a:xfrm>
          <a:prstGeom prst="roundRect">
            <a:avLst>
              <a:gd name="adj" fmla="val 4000"/>
            </a:avLst>
          </a:prstGeom>
          <a:solidFill>
            <a:srgbClr val="FF4D8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78040" y="553212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8887968" y="333756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3500" b="1" dirty="0">
                <a:solidFill>
                  <a:srgbClr val="45E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$8.7B</a:t>
            </a:r>
            <a:endParaRPr lang="en-US" sz="3500" dirty="0"/>
          </a:p>
        </p:txBody>
      </p:sp>
      <p:sp>
        <p:nvSpPr>
          <p:cNvPr id="15" name="Text 13"/>
          <p:cNvSpPr/>
          <p:nvPr/>
        </p:nvSpPr>
        <p:spPr>
          <a:xfrm>
            <a:off x="8595360" y="429768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B4BE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global category opportunity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66928" y="6510528"/>
            <a:ext cx="24688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spc="140" kern="0" dirty="0">
                <a:solidFill>
                  <a:srgbClr val="68739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FREEAIPPT / EDITABLE TEMPLATE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11137392" y="6473952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8739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9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3038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1755648" y="603504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b="1" spc="240" kern="0" dirty="0">
                <a:solidFill>
                  <a:srgbClr val="FF4D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TRACTION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389888"/>
            <a:ext cx="6675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Early users return, expand, and refer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713232" y="2971800"/>
            <a:ext cx="5715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B4BE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verified cohorts, pipeline, and customer proof to demonstrate real pull.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458200" y="1005840"/>
            <a:ext cx="2880360" cy="2880360"/>
          </a:xfrm>
          <a:prstGeom prst="ellipse">
            <a:avLst/>
          </a:prstGeom>
          <a:solidFill>
            <a:srgbClr val="1A204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7152" y="1764792"/>
            <a:ext cx="1371600" cy="1371600"/>
          </a:xfrm>
          <a:prstGeom prst="ellipse">
            <a:avLst/>
          </a:prstGeom>
          <a:solidFill>
            <a:srgbClr val="FF4D8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19872" y="425196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+18%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8366760" y="5102352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45E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monthly account growth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66928" y="6510528"/>
            <a:ext cx="24688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spc="140" kern="0" dirty="0">
                <a:solidFill>
                  <a:srgbClr val="68739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FREEAIPPT / EDITABLE TEMPLATE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11137392" y="6473952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8739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9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3038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1755648" y="603504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b="1" spc="240" kern="0" dirty="0">
                <a:solidFill>
                  <a:srgbClr val="45E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MODEL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658368" y="1298448"/>
            <a:ext cx="3703320" cy="4480560"/>
          </a:xfrm>
          <a:prstGeom prst="roundRect">
            <a:avLst>
              <a:gd name="adj" fmla="val 1481"/>
            </a:avLst>
          </a:prstGeom>
          <a:solidFill>
            <a:srgbClr val="1A204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7552" y="1847088"/>
            <a:ext cx="29992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45E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$240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005840" y="2926080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BCC5D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average monthly account value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005840" y="4069080"/>
            <a:ext cx="2651760" cy="164592"/>
          </a:xfrm>
          <a:prstGeom prst="rect">
            <a:avLst>
              <a:gd name="adj" fmla="val 33333"/>
            </a:avLst>
          </a:prstGeom>
          <a:solidFill>
            <a:srgbClr val="424D78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4297680"/>
            <a:ext cx="1005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00" b="1" spc="13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</a:t>
            </a:r>
            <a:endParaRPr lang="en-US" sz="600" dirty="0"/>
          </a:p>
        </p:txBody>
      </p:sp>
      <p:sp>
        <p:nvSpPr>
          <p:cNvPr id="9" name="Shape 7"/>
          <p:cNvSpPr/>
          <p:nvPr/>
        </p:nvSpPr>
        <p:spPr>
          <a:xfrm>
            <a:off x="1005840" y="4462272"/>
            <a:ext cx="2331720" cy="164592"/>
          </a:xfrm>
          <a:prstGeom prst="rect">
            <a:avLst>
              <a:gd name="adj" fmla="val 33333"/>
            </a:avLst>
          </a:prstGeom>
          <a:solidFill>
            <a:srgbClr val="424D78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4690872"/>
            <a:ext cx="1005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00" b="1" spc="13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ENGINE</a:t>
            </a:r>
            <a:endParaRPr lang="en-US" sz="600" dirty="0"/>
          </a:p>
        </p:txBody>
      </p:sp>
      <p:sp>
        <p:nvSpPr>
          <p:cNvPr id="11" name="Shape 9"/>
          <p:cNvSpPr/>
          <p:nvPr/>
        </p:nvSpPr>
        <p:spPr>
          <a:xfrm>
            <a:off x="1005840" y="4855464"/>
            <a:ext cx="2011680" cy="164592"/>
          </a:xfrm>
          <a:prstGeom prst="rect">
            <a:avLst>
              <a:gd name="adj" fmla="val 33333"/>
            </a:avLst>
          </a:prstGeom>
          <a:solidFill>
            <a:srgbClr val="FF4D8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5084064"/>
            <a:ext cx="1005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00" b="1" spc="13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OUTCOME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4983480" y="1481328"/>
            <a:ext cx="5989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Simple pricing that scales with usage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5010912" y="3127248"/>
            <a:ext cx="5394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B4BE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Connect pricing to customer value and explain the path to attractive unit economics.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010912" y="4773168"/>
            <a:ext cx="5166360" cy="0"/>
          </a:xfrm>
          <a:prstGeom prst="line">
            <a:avLst/>
          </a:prstGeom>
          <a:noFill/>
          <a:ln w="25400">
            <a:solidFill>
              <a:srgbClr val="45E6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6510528"/>
            <a:ext cx="24688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spc="140" kern="0" dirty="0">
                <a:solidFill>
                  <a:srgbClr val="68739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FREEAIPPT / EDITABLE TEMPLATE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11137392" y="6473952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8739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9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3038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1755648" y="603504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b="1" spc="240" kern="0" dirty="0">
                <a:solidFill>
                  <a:srgbClr val="FF4D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COMPETITION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234440"/>
            <a:ext cx="10287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 on workflow depth, not feature count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713232" y="2487168"/>
            <a:ext cx="6766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B4BE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 why the chosen customer switches and why the advantage compounds.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49808" y="4709160"/>
            <a:ext cx="1371600" cy="640080"/>
          </a:xfrm>
          <a:prstGeom prst="roundRect">
            <a:avLst>
              <a:gd name="adj" fmla="val 8571"/>
            </a:avLst>
          </a:prstGeom>
          <a:solidFill>
            <a:srgbClr val="28325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553212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2761488" y="4398264"/>
            <a:ext cx="1371600" cy="950976"/>
          </a:xfrm>
          <a:prstGeom prst="roundRect">
            <a:avLst>
              <a:gd name="adj" fmla="val 5769"/>
            </a:avLst>
          </a:prstGeom>
          <a:solidFill>
            <a:srgbClr val="28325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54680" y="553212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4773168" y="4105656"/>
            <a:ext cx="1371600" cy="1243584"/>
          </a:xfrm>
          <a:prstGeom prst="roundRect">
            <a:avLst>
              <a:gd name="adj" fmla="val 4412"/>
            </a:avLst>
          </a:prstGeom>
          <a:solidFill>
            <a:srgbClr val="28325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66360" y="553212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6784848" y="3703320"/>
            <a:ext cx="1371600" cy="1645920"/>
          </a:xfrm>
          <a:prstGeom prst="roundRect">
            <a:avLst>
              <a:gd name="adj" fmla="val 4000"/>
            </a:avLst>
          </a:prstGeom>
          <a:solidFill>
            <a:srgbClr val="FF4D8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78040" y="553212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8887968" y="333756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3500" b="1" dirty="0">
                <a:solidFill>
                  <a:srgbClr val="45E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2.4×</a:t>
            </a:r>
            <a:endParaRPr lang="en-US" sz="3500" dirty="0"/>
          </a:p>
        </p:txBody>
      </p:sp>
      <p:sp>
        <p:nvSpPr>
          <p:cNvPr id="15" name="Text 13"/>
          <p:cNvSpPr/>
          <p:nvPr/>
        </p:nvSpPr>
        <p:spPr>
          <a:xfrm>
            <a:off x="8595360" y="429768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B4BE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improvement in time-to-value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66928" y="6510528"/>
            <a:ext cx="24688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spc="140" kern="0" dirty="0">
                <a:solidFill>
                  <a:srgbClr val="68739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FREEAIPPT / EDITABLE TEMPLATE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11137392" y="6473952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8739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9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3038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1755648" y="603504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b="1" spc="240" kern="0" dirty="0">
                <a:solidFill>
                  <a:srgbClr val="45E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ASK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389888"/>
            <a:ext cx="6675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Raise to prove repeatable distribution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713232" y="2971800"/>
            <a:ext cx="5715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B4BE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 the amount, runway, milestones, hiring plan, and evidence this round will create.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458200" y="1005840"/>
            <a:ext cx="2880360" cy="2880360"/>
          </a:xfrm>
          <a:prstGeom prst="ellipse">
            <a:avLst/>
          </a:prstGeom>
          <a:solidFill>
            <a:srgbClr val="1A204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7152" y="1764792"/>
            <a:ext cx="1371600" cy="1371600"/>
          </a:xfrm>
          <a:prstGeom prst="ellipse">
            <a:avLst/>
          </a:prstGeom>
          <a:solidFill>
            <a:srgbClr val="FF4D8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19872" y="425196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$1.5M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8366760" y="5102352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45E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 months of runway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66928" y="6510528"/>
            <a:ext cx="24688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spc="140" kern="0" dirty="0">
                <a:solidFill>
                  <a:srgbClr val="68739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FREEAIPPT / EDITABLE TEMPLATE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11137392" y="6473952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8739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FreeAIPPT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Startup Pitch Deck</dc:title>
  <dc:subject>Free editable PowerPoint template</dc:subject>
  <dc:creator>FreeAIPPT</dc:creator>
  <cp:lastModifiedBy>FreeAIPPT</cp:lastModifiedBy>
  <cp:revision>1</cp:revision>
  <dcterms:created xsi:type="dcterms:W3CDTF">2026-09-08T03:51:56Z</dcterms:created>
  <dcterms:modified xsi:type="dcterms:W3CDTF">2026-09-08T03:51:56Z</dcterms:modified>
</cp:coreProperties>
</file>